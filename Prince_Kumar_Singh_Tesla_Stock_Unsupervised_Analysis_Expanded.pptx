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8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32520" y="73152"/>
            <a:ext cx="3456432" cy="6784848"/>
          </a:xfrm>
          <a:prstGeom prst="rect">
            <a:avLst/>
          </a:prstGeom>
          <a:solidFill>
            <a:srgbClr val="18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7315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500">
                <a:solidFill>
                  <a:srgbClr val="FFFFFF"/>
                </a:solidFill>
                <a:latin typeface="Aptos Display"/>
              </a:defRPr>
            </a:pPr>
            <a:r>
              <a:t>Tesla Stock Market</a:t>
            </a:r>
            <a:br/>
            <a:r>
              <a:t>Performance Analysis</a:t>
            </a:r>
          </a:p>
          <a:p>
            <a:pPr>
              <a:spcBef>
                <a:spcPts val="1800"/>
              </a:spcBef>
              <a:defRPr sz="1700">
                <a:solidFill>
                  <a:srgbClr val="BEC8D4"/>
                </a:solidFill>
                <a:latin typeface="Aptos"/>
              </a:defRPr>
            </a:pPr>
            <a:r>
              <a:t>EDA &amp; Unsupervised Learning</a:t>
            </a:r>
          </a:p>
          <a:p>
            <a:pPr>
              <a:spcBef>
                <a:spcPts val="1600"/>
              </a:spcBef>
              <a:defRPr sz="1100">
                <a:solidFill>
                  <a:srgbClr val="C49743"/>
                </a:solidFill>
                <a:latin typeface="Aptos"/>
              </a:defRPr>
            </a:pPr>
            <a:r>
              <a:t>K-Means  •  Gaussian Mixture Model  •  DBSCAN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53035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Aptos"/>
              </a:defRPr>
            </a:pPr>
            <a:r>
              <a:t>Prince Kumar Singh  |  Data Analyst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  <a:latin typeface="Aptos"/>
              </a:defRPr>
            </a:pPr>
            <a:r>
              <a:t>Tesla Stock Market Performance Analysis   •   Prince Kumar Singh                            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8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21B2B"/>
                </a:solidFill>
                <a:latin typeface="Aptos Display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ptos"/>
              </a:defRPr>
            </a:pPr>
            <a:r>
              <a:t>From raw market data to interpretable historical regimes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364151"/>
                </a:solidFill>
                <a:latin typeface="Aptos"/>
              </a:defRPr>
            </a:pPr>
            <a:r>
              <a:t>• Project objective &amp; dataset</a:t>
            </a:r>
          </a:p>
          <a:p>
            <a:pPr>
              <a:spcAft>
                <a:spcPts val="1100"/>
              </a:spcAft>
              <a:defRPr sz="1900">
                <a:solidFill>
                  <a:srgbClr val="364151"/>
                </a:solidFill>
                <a:latin typeface="Aptos"/>
              </a:defRPr>
            </a:pPr>
            <a:r>
              <a:t>• Data preparation and feature engineering</a:t>
            </a:r>
          </a:p>
          <a:p>
            <a:pPr>
              <a:spcAft>
                <a:spcPts val="1100"/>
              </a:spcAft>
              <a:defRPr sz="1900">
                <a:solidFill>
                  <a:srgbClr val="364151"/>
                </a:solidFill>
                <a:latin typeface="Aptos"/>
              </a:defRPr>
            </a:pPr>
            <a:r>
              <a:t>• EDA: distributions, trend, decomposition and rolling statistics</a:t>
            </a:r>
          </a:p>
          <a:p>
            <a:pPr>
              <a:spcAft>
                <a:spcPts val="1100"/>
              </a:spcAft>
              <a:defRPr sz="1900">
                <a:solidFill>
                  <a:srgbClr val="364151"/>
                </a:solidFill>
                <a:latin typeface="Aptos"/>
              </a:defRPr>
            </a:pPr>
            <a:r>
              <a:t>• Clustering: K-Means, GMM and DBSCAN</a:t>
            </a:r>
          </a:p>
          <a:p>
            <a:pPr>
              <a:spcAft>
                <a:spcPts val="1100"/>
              </a:spcAft>
              <a:defRPr sz="1900">
                <a:solidFill>
                  <a:srgbClr val="364151"/>
                </a:solidFill>
                <a:latin typeface="Aptos"/>
              </a:defRPr>
            </a:pPr>
            <a:r>
              <a:t>• Model evaluation and statistical validation</a:t>
            </a:r>
          </a:p>
          <a:p>
            <a:pPr>
              <a:spcAft>
                <a:spcPts val="1100"/>
              </a:spcAft>
              <a:defRPr sz="1900">
                <a:solidFill>
                  <a:srgbClr val="364151"/>
                </a:solidFill>
                <a:latin typeface="Aptos"/>
              </a:defRPr>
            </a:pPr>
            <a:r>
              <a:t>• Key findings, limitations and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  <a:latin typeface="Aptos"/>
              </a:defRPr>
            </a:pPr>
            <a:r>
              <a:t>Tesla Stock Market Performance Analysis   •   Prince Kumar Singh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8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21B2B"/>
                </a:solidFill>
                <a:latin typeface="Aptos Display"/>
              </a:defRPr>
            </a:pPr>
            <a:r>
              <a:t>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ptos"/>
              </a:defRPr>
            </a:pPr>
            <a:r>
              <a:t>What the analysis is designed to uncover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364151"/>
                </a:solidFill>
                <a:latin typeface="Aptos"/>
              </a:defRPr>
            </a:pPr>
            <a:r>
              <a:t>• Identify daily periods with similar Tesla stock characteristics.</a:t>
            </a:r>
          </a:p>
          <a:p>
            <a:pPr>
              <a:spcAft>
                <a:spcPts val="1100"/>
              </a:spcAft>
              <a:defRPr sz="1800">
                <a:solidFill>
                  <a:srgbClr val="364151"/>
                </a:solidFill>
                <a:latin typeface="Aptos"/>
              </a:defRPr>
            </a:pPr>
            <a:r>
              <a:t>• Capture both price level and short-term market movement.</a:t>
            </a:r>
          </a:p>
          <a:p>
            <a:pPr>
              <a:spcAft>
                <a:spcPts val="1100"/>
              </a:spcAft>
              <a:defRPr sz="1800">
                <a:solidFill>
                  <a:srgbClr val="364151"/>
                </a:solidFill>
                <a:latin typeface="Aptos"/>
              </a:defRPr>
            </a:pPr>
            <a:r>
              <a:t>• Compare three unsupervised methods with different clustering assumptions.</a:t>
            </a:r>
          </a:p>
          <a:p>
            <a:pPr>
              <a:spcAft>
                <a:spcPts val="1100"/>
              </a:spcAft>
              <a:defRPr sz="1800">
                <a:solidFill>
                  <a:srgbClr val="364151"/>
                </a:solidFill>
                <a:latin typeface="Aptos"/>
              </a:defRPr>
            </a:pPr>
            <a:r>
              <a:t>• Use statistical and cluster-level evidence to understand whether the segments differ materially.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257800"/>
            <a:ext cx="2834640" cy="1051560"/>
          </a:xfrm>
          <a:prstGeom prst="roundRect">
            <a:avLst/>
          </a:prstGeom>
          <a:solidFill>
            <a:srgbClr val="F3F6F9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91440"/>
          <a:lstStyle/>
          <a:p>
            <a:pPr algn="ctr">
              <a:defRPr b="1" sz="2300">
                <a:solidFill>
                  <a:srgbClr val="188B8D"/>
                </a:solidFill>
                <a:latin typeface="Aptos Display"/>
              </a:defRPr>
            </a:pPr>
            <a:r>
              <a:t>3,077</a:t>
            </a:r>
          </a:p>
          <a:p>
            <a:pPr>
              <a:defRPr sz="900">
                <a:solidFill>
                  <a:srgbClr val="6B7280"/>
                </a:solidFill>
                <a:latin typeface="Aptos"/>
              </a:defRPr>
            </a:pPr>
            <a:r>
              <a:t>Daily observations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86200" y="5257800"/>
            <a:ext cx="2834640" cy="1051560"/>
          </a:xfrm>
          <a:prstGeom prst="roundRect">
            <a:avLst/>
          </a:prstGeom>
          <a:solidFill>
            <a:srgbClr val="F3F6F9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91440"/>
          <a:lstStyle/>
          <a:p>
            <a:pPr algn="ctr">
              <a:defRPr b="1" sz="2300">
                <a:solidFill>
                  <a:srgbClr val="188B8D"/>
                </a:solidFill>
                <a:latin typeface="Aptos Display"/>
              </a:defRPr>
            </a:pPr>
            <a:r>
              <a:t>7</a:t>
            </a:r>
          </a:p>
          <a:p>
            <a:pPr>
              <a:defRPr sz="900">
                <a:solidFill>
                  <a:srgbClr val="6B7280"/>
                </a:solidFill>
                <a:latin typeface="Aptos"/>
              </a:defRPr>
            </a:pPr>
            <a:r>
              <a:t>Original variables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5257800"/>
            <a:ext cx="2834640" cy="1051560"/>
          </a:xfrm>
          <a:prstGeom prst="roundRect">
            <a:avLst/>
          </a:prstGeom>
          <a:solidFill>
            <a:srgbClr val="F3F6F9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91440"/>
          <a:lstStyle/>
          <a:p>
            <a:pPr algn="ctr">
              <a:defRPr b="1" sz="2300">
                <a:solidFill>
                  <a:srgbClr val="188B8D"/>
                </a:solidFill>
                <a:latin typeface="Aptos Display"/>
              </a:defRPr>
            </a:pPr>
            <a:r>
              <a:t>6</a:t>
            </a:r>
          </a:p>
          <a:p>
            <a:pPr>
              <a:defRPr sz="900">
                <a:solidFill>
                  <a:srgbClr val="6B7280"/>
                </a:solidFill>
                <a:latin typeface="Aptos"/>
              </a:defRPr>
            </a:pPr>
            <a:r>
              <a:t>Clustering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9224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  <a:latin typeface="Aptos"/>
              </a:defRPr>
            </a:pPr>
            <a:r>
              <a:t>Tesla Stock Market Performance Analysis   •   Prince Kumar Singh    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8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21B2B"/>
                </a:solidFill>
                <a:latin typeface="Aptos Display"/>
              </a:defRPr>
            </a:pPr>
            <a:r>
              <a:t>Dataset &amp; Data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ptos"/>
              </a:defRPr>
            </a:pPr>
            <a:r>
              <a:t>The supplied Tesla dataset is a daily OHLCV series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2560320" cy="1051560"/>
          </a:xfrm>
          <a:prstGeom prst="roundRect">
            <a:avLst/>
          </a:prstGeom>
          <a:solidFill>
            <a:srgbClr val="F3F6F9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91440"/>
          <a:lstStyle/>
          <a:p>
            <a:pPr algn="ctr">
              <a:defRPr b="1" sz="2300">
                <a:solidFill>
                  <a:srgbClr val="188B8D"/>
                </a:solidFill>
                <a:latin typeface="Aptos Display"/>
              </a:defRPr>
            </a:pPr>
            <a:r>
              <a:t>3,077</a:t>
            </a:r>
          </a:p>
          <a:p>
            <a:pPr>
              <a:defRPr sz="900">
                <a:solidFill>
                  <a:srgbClr val="6B7280"/>
                </a:solidFill>
                <a:latin typeface="Aptos"/>
              </a:defRPr>
            </a:pPr>
            <a:r>
              <a:t>Rows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11880" y="1417320"/>
            <a:ext cx="2560320" cy="1051560"/>
          </a:xfrm>
          <a:prstGeom prst="roundRect">
            <a:avLst/>
          </a:prstGeom>
          <a:solidFill>
            <a:srgbClr val="F3F6F9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91440"/>
          <a:lstStyle/>
          <a:p>
            <a:pPr algn="ctr">
              <a:defRPr b="1" sz="2300">
                <a:solidFill>
                  <a:srgbClr val="188B8D"/>
                </a:solidFill>
                <a:latin typeface="Aptos Display"/>
              </a:defRPr>
            </a:pPr>
            <a:r>
              <a:t>7</a:t>
            </a:r>
          </a:p>
          <a:p>
            <a:pPr>
              <a:defRPr sz="900">
                <a:solidFill>
                  <a:srgbClr val="6B7280"/>
                </a:solidFill>
                <a:latin typeface="Aptos"/>
              </a:defRPr>
            </a:pPr>
            <a:r>
              <a:t>Columns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17320"/>
            <a:ext cx="2560320" cy="1051560"/>
          </a:xfrm>
          <a:prstGeom prst="roundRect">
            <a:avLst/>
          </a:prstGeom>
          <a:solidFill>
            <a:srgbClr val="F3F6F9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91440"/>
          <a:lstStyle/>
          <a:p>
            <a:pPr algn="ctr">
              <a:defRPr b="1" sz="2300">
                <a:solidFill>
                  <a:srgbClr val="188B8D"/>
                </a:solidFill>
                <a:latin typeface="Aptos Display"/>
              </a:defRPr>
            </a:pPr>
            <a:r>
              <a:t>0</a:t>
            </a:r>
          </a:p>
          <a:p>
            <a:pPr>
              <a:defRPr sz="900">
                <a:solidFill>
                  <a:srgbClr val="6B7280"/>
                </a:solidFill>
                <a:latin typeface="Aptos"/>
              </a:defRPr>
            </a:pPr>
            <a:r>
              <a:t>Missing values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89720" y="1417320"/>
            <a:ext cx="2560320" cy="1051560"/>
          </a:xfrm>
          <a:prstGeom prst="roundRect">
            <a:avLst/>
          </a:prstGeom>
          <a:solidFill>
            <a:srgbClr val="F3F6F9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91440"/>
          <a:lstStyle/>
          <a:p>
            <a:pPr algn="ctr">
              <a:defRPr b="1" sz="2300">
                <a:solidFill>
                  <a:srgbClr val="188B8D"/>
                </a:solidFill>
                <a:latin typeface="Aptos Display"/>
              </a:defRPr>
            </a:pPr>
            <a:r>
              <a:t>0</a:t>
            </a:r>
          </a:p>
          <a:p>
            <a:pPr>
              <a:defRPr sz="900">
                <a:solidFill>
                  <a:srgbClr val="6B7280"/>
                </a:solidFill>
                <a:latin typeface="Aptos"/>
              </a:defRPr>
            </a:pPr>
            <a:r>
              <a:t>Duplicates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34640"/>
            <a:ext cx="103327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364151"/>
                </a:solidFill>
                <a:latin typeface="Aptos"/>
              </a:defRPr>
            </a:pPr>
            <a:r>
              <a:t>• Date, Open, High, Low, Close, Adj Close and Volume.</a:t>
            </a:r>
          </a:p>
          <a:p>
            <a:pPr>
              <a:spcAft>
                <a:spcPts val="1100"/>
              </a:spcAft>
              <a:defRPr sz="1700">
                <a:solidFill>
                  <a:srgbClr val="364151"/>
                </a:solidFill>
                <a:latin typeface="Aptos"/>
              </a:defRPr>
            </a:pPr>
            <a:r>
              <a:t>• Date converted to datetime and records sorted chronologically.</a:t>
            </a:r>
          </a:p>
          <a:p>
            <a:pPr>
              <a:spcAft>
                <a:spcPts val="1100"/>
              </a:spcAft>
              <a:defRPr sz="1700">
                <a:solidFill>
                  <a:srgbClr val="364151"/>
                </a:solidFill>
                <a:latin typeface="Aptos"/>
              </a:defRPr>
            </a:pPr>
            <a:r>
              <a:t>• No missing values or duplicate rows were found in the raw file.</a:t>
            </a:r>
          </a:p>
          <a:p>
            <a:pPr>
              <a:spcAft>
                <a:spcPts val="1100"/>
              </a:spcAft>
              <a:defRPr sz="1700">
                <a:solidFill>
                  <a:srgbClr val="364151"/>
                </a:solidFill>
                <a:latin typeface="Aptos"/>
              </a:defRPr>
            </a:pPr>
            <a:r>
              <a:t>• Feature engineering creates expected leading missing values for differences and rolling calculations.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9224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  <a:latin typeface="Aptos"/>
              </a:defRPr>
            </a:pPr>
            <a:r>
              <a:t>Tesla Stock Market Performance Analysis   •   Prince Kumar Singh                     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8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21B2B"/>
                </a:solidFill>
                <a:latin typeface="Aptos Display"/>
              </a:defRPr>
            </a:pPr>
            <a:r>
              <a:t>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ptos"/>
              </a:defRPr>
            </a:pPr>
            <a:r>
              <a:t>Representing short-term price dynamics for clustering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10424160" cy="896112"/>
          </a:xfrm>
          <a:prstGeom prst="roundRect">
            <a:avLst/>
          </a:prstGeom>
          <a:solidFill>
            <a:srgbClr val="F3F6F9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>
              <a:defRPr b="1" sz="1600">
                <a:solidFill>
                  <a:srgbClr val="121B2B"/>
                </a:solidFill>
                <a:latin typeface="Aptos"/>
              </a:defRPr>
            </a:pPr>
            <a:r>
              <a:t>Price Change</a:t>
            </a:r>
          </a:p>
          <a:p>
            <a:pPr>
              <a:defRPr sz="1100">
                <a:solidFill>
                  <a:srgbClr val="6B7280"/>
                </a:solidFill>
                <a:latin typeface="Aptos"/>
              </a:defRPr>
            </a:pPr>
            <a:r>
              <a:t>Close − previous Close   •   Daily direction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96312"/>
            <a:ext cx="10424160" cy="896112"/>
          </a:xfrm>
          <a:prstGeom prst="roundRect">
            <a:avLst/>
          </a:prstGeom>
          <a:solidFill>
            <a:srgbClr val="F3F6F9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>
              <a:defRPr b="1" sz="1600">
                <a:solidFill>
                  <a:srgbClr val="121B2B"/>
                </a:solidFill>
                <a:latin typeface="Aptos"/>
              </a:defRPr>
            </a:pPr>
            <a:r>
              <a:t>Price Range</a:t>
            </a:r>
          </a:p>
          <a:p>
            <a:pPr>
              <a:defRPr sz="1100">
                <a:solidFill>
                  <a:srgbClr val="6B7280"/>
                </a:solidFill>
                <a:latin typeface="Aptos"/>
              </a:defRPr>
            </a:pPr>
            <a:r>
              <a:t>High − Low   •   Intraday movement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529584"/>
            <a:ext cx="10424160" cy="896112"/>
          </a:xfrm>
          <a:prstGeom prst="roundRect">
            <a:avLst/>
          </a:prstGeom>
          <a:solidFill>
            <a:srgbClr val="F3F6F9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>
              <a:defRPr b="1" sz="1600">
                <a:solidFill>
                  <a:srgbClr val="121B2B"/>
                </a:solidFill>
                <a:latin typeface="Aptos"/>
              </a:defRPr>
            </a:pPr>
            <a:r>
              <a:t>Pct Change</a:t>
            </a:r>
          </a:p>
          <a:p>
            <a:pPr>
              <a:defRPr sz="1100">
                <a:solidFill>
                  <a:srgbClr val="6B7280"/>
                </a:solidFill>
                <a:latin typeface="Aptos"/>
              </a:defRPr>
            </a:pPr>
            <a:r>
              <a:t>Daily % change   •   Relative movement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562856"/>
            <a:ext cx="10424160" cy="896112"/>
          </a:xfrm>
          <a:prstGeom prst="roundRect">
            <a:avLst/>
          </a:prstGeom>
          <a:solidFill>
            <a:srgbClr val="F3F6F9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>
              <a:defRPr b="1" sz="1600">
                <a:solidFill>
                  <a:srgbClr val="121B2B"/>
                </a:solidFill>
                <a:latin typeface="Aptos"/>
              </a:defRPr>
            </a:pPr>
            <a:r>
              <a:t>Volatility</a:t>
            </a:r>
          </a:p>
          <a:p>
            <a:pPr>
              <a:defRPr sz="1100">
                <a:solidFill>
                  <a:srgbClr val="6B7280"/>
                </a:solidFill>
                <a:latin typeface="Aptos"/>
              </a:defRPr>
            </a:pPr>
            <a:r>
              <a:t>30-day std. dev.   •   Recent variability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9224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  <a:latin typeface="Aptos"/>
              </a:defRPr>
            </a:pPr>
            <a:r>
              <a:t>Tesla Stock Market Performance Analysis   •   Prince Kumar Singh                            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8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21B2B"/>
                </a:solidFill>
                <a:latin typeface="Aptos Display"/>
              </a:defRPr>
            </a:pPr>
            <a:r>
              <a:t>Distribution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ptos"/>
              </a:defRPr>
            </a:pPr>
            <a:r>
              <a:t>Price and volume are not on a common scale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7132320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55279" y="1600200"/>
            <a:ext cx="3246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364151"/>
                </a:solidFill>
                <a:latin typeface="Aptos"/>
              </a:defRPr>
            </a:pPr>
            <a:r>
              <a:t>• Closing price is right-skewed across the full history.</a:t>
            </a:r>
          </a:p>
          <a:p>
            <a:pPr>
              <a:spcAft>
                <a:spcPts val="1100"/>
              </a:spcAft>
              <a:defRPr sz="1500">
                <a:solidFill>
                  <a:srgbClr val="364151"/>
                </a:solidFill>
                <a:latin typeface="Aptos"/>
              </a:defRPr>
            </a:pPr>
            <a:r>
              <a:t>• Volume also varies substantially across periods.</a:t>
            </a:r>
          </a:p>
          <a:p>
            <a:pPr>
              <a:spcAft>
                <a:spcPts val="1100"/>
              </a:spcAft>
              <a:defRPr sz="1500">
                <a:solidFill>
                  <a:srgbClr val="364151"/>
                </a:solidFill>
                <a:latin typeface="Aptos"/>
              </a:defRPr>
            </a:pPr>
            <a:r>
              <a:t>• Outliers in financial data may be genuine market observations and should not be removed automatically.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9224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  <a:latin typeface="Aptos"/>
              </a:defRPr>
            </a:pPr>
            <a:r>
              <a:t>Tesla Stock Market Performance Analysis   •   Prince Kumar Singh                            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8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21B2B"/>
                </a:solidFill>
                <a:latin typeface="Aptos Display"/>
              </a:defRPr>
            </a:pPr>
            <a:r>
              <a:t>Closing Price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ptos"/>
              </a:defRPr>
            </a:pPr>
            <a:r>
              <a:t>Long-term price movement creates distinct historical regimes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10881360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9224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  <a:latin typeface="Aptos"/>
              </a:defRPr>
            </a:pPr>
            <a:r>
              <a:t>Tesla Stock Market Performance Analysis   •   Prince Kumar Singh                                 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8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21B2B"/>
                </a:solidFill>
                <a:latin typeface="Aptos Display"/>
              </a:defRPr>
            </a:pPr>
            <a:r>
              <a:t>Seasonal Decomposition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ptos"/>
              </a:defRPr>
            </a:pPr>
            <a:r>
              <a:t>Separating trend, seasonal structure and residual movement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6400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364151"/>
                </a:solidFill>
                <a:latin typeface="Aptos"/>
              </a:defRPr>
            </a:pPr>
            <a:r>
              <a:t>• An additive decomposition was applied to the Close series.</a:t>
            </a:r>
          </a:p>
          <a:p>
            <a:pPr>
              <a:spcAft>
                <a:spcPts val="1100"/>
              </a:spcAft>
              <a:defRPr sz="1600">
                <a:solidFill>
                  <a:srgbClr val="364151"/>
                </a:solidFill>
                <a:latin typeface="Aptos"/>
              </a:defRPr>
            </a:pPr>
            <a:r>
              <a:t>• A 252-business-day cycle was used as an approximate trading-year period.</a:t>
            </a:r>
          </a:p>
          <a:p>
            <a:pPr>
              <a:spcAft>
                <a:spcPts val="1100"/>
              </a:spcAft>
              <a:defRPr sz="1600">
                <a:solidFill>
                  <a:srgbClr val="364151"/>
                </a:solidFill>
                <a:latin typeface="Aptos"/>
              </a:defRPr>
            </a:pPr>
            <a:r>
              <a:t>• Trend captures long-term movement; seasonality represents repeating structure under the model assumption; residual captures remaining variation.</a:t>
            </a:r>
          </a:p>
          <a:p>
            <a:pPr>
              <a:spcAft>
                <a:spcPts val="1100"/>
              </a:spcAft>
              <a:defRPr sz="1600">
                <a:solidFill>
                  <a:srgbClr val="364151"/>
                </a:solidFill>
                <a:latin typeface="Aptos"/>
              </a:defRPr>
            </a:pPr>
            <a:r>
              <a:t>• Interpret seasonality cautiously: stock-price seasonality is exploratory, not guaranteed to persist.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26679" y="1417320"/>
            <a:ext cx="3383280" cy="777240"/>
          </a:xfrm>
          <a:prstGeom prst="roundRect">
            <a:avLst/>
          </a:prstGeom>
          <a:solidFill>
            <a:srgbClr val="18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C49743"/>
                </a:solidFill>
                <a:latin typeface="Aptos"/>
              </a:defRPr>
            </a:pPr>
            <a:r>
              <a:t>Observed</a:t>
            </a:r>
          </a:p>
          <a:p>
            <a:pPr algn="ctr">
              <a:defRPr sz="900">
                <a:solidFill>
                  <a:srgbClr val="FFFFFF"/>
                </a:solidFill>
                <a:latin typeface="Aptos"/>
              </a:defRPr>
            </a:pPr>
            <a:r>
              <a:t>Actual Close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2468880"/>
            <a:ext cx="3383280" cy="777240"/>
          </a:xfrm>
          <a:prstGeom prst="roundRect">
            <a:avLst/>
          </a:prstGeom>
          <a:solidFill>
            <a:srgbClr val="18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C49743"/>
                </a:solidFill>
                <a:latin typeface="Aptos"/>
              </a:defRPr>
            </a:pPr>
            <a:r>
              <a:t>Trend</a:t>
            </a:r>
          </a:p>
          <a:p>
            <a:pPr algn="ctr">
              <a:defRPr sz="900">
                <a:solidFill>
                  <a:srgbClr val="FFFFFF"/>
                </a:solidFill>
                <a:latin typeface="Aptos"/>
              </a:defRPr>
            </a:pPr>
            <a:r>
              <a:t>Long-term movement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3520439"/>
            <a:ext cx="3383280" cy="777240"/>
          </a:xfrm>
          <a:prstGeom prst="roundRect">
            <a:avLst/>
          </a:prstGeom>
          <a:solidFill>
            <a:srgbClr val="18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C49743"/>
                </a:solidFill>
                <a:latin typeface="Aptos"/>
              </a:defRPr>
            </a:pPr>
            <a:r>
              <a:t>Seasonal</a:t>
            </a:r>
          </a:p>
          <a:p>
            <a:pPr algn="ctr">
              <a:defRPr sz="900">
                <a:solidFill>
                  <a:srgbClr val="FFFFFF"/>
                </a:solidFill>
                <a:latin typeface="Aptos"/>
              </a:defRPr>
            </a:pPr>
            <a:r>
              <a:t>Annual-cycle component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4572000"/>
            <a:ext cx="3383280" cy="777240"/>
          </a:xfrm>
          <a:prstGeom prst="roundRect">
            <a:avLst/>
          </a:prstGeom>
          <a:solidFill>
            <a:srgbClr val="18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C49743"/>
                </a:solidFill>
                <a:latin typeface="Aptos"/>
              </a:defRPr>
            </a:pPr>
            <a:r>
              <a:t>Residual</a:t>
            </a:r>
          </a:p>
          <a:p>
            <a:pPr algn="ctr">
              <a:defRPr sz="900">
                <a:solidFill>
                  <a:srgbClr val="FFFFFF"/>
                </a:solidFill>
                <a:latin typeface="Aptos"/>
              </a:defRPr>
            </a:pPr>
            <a:r>
              <a:t>Unexplained variation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9224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  <a:latin typeface="Aptos"/>
              </a:defRPr>
            </a:pPr>
            <a:r>
              <a:t>Tesla Stock Market Performance Analysis   •   Prince Kumar Singh                                 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8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21B2B"/>
                </a:solidFill>
                <a:latin typeface="Aptos Display"/>
              </a:defRPr>
            </a:pPr>
            <a:r>
              <a:t>Rolling Statistics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ptos"/>
              </a:defRPr>
            </a:pPr>
            <a:r>
              <a:t>30-day smoothing highlights changing volatility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1088136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562356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200">
                <a:solidFill>
                  <a:srgbClr val="364151"/>
                </a:solidFill>
                <a:latin typeface="Aptos"/>
              </a:defRPr>
            </a:pPr>
            <a:r>
              <a:t>• Rolling mean smooths short-term price noise.</a:t>
            </a:r>
          </a:p>
          <a:p>
            <a:pPr>
              <a:spcAft>
                <a:spcPts val="1100"/>
              </a:spcAft>
              <a:defRPr sz="1200">
                <a:solidFill>
                  <a:srgbClr val="364151"/>
                </a:solidFill>
                <a:latin typeface="Aptos"/>
              </a:defRPr>
            </a:pPr>
            <a:r>
              <a:t>• Rolling standard deviation measures recent dispersion and helps identify higher-volatility periods.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9224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  <a:latin typeface="Aptos"/>
              </a:defRPr>
            </a:pPr>
            <a:r>
              <a:t>Tesla Stock Market Performance Analysis   •   Prince Kumar Singh                                 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8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21B2B"/>
                </a:solidFill>
                <a:latin typeface="Aptos Display"/>
              </a:defRPr>
            </a:pPr>
            <a:r>
              <a:t>Feature Scaling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ptos"/>
              </a:defRPr>
            </a:pPr>
            <a:r>
              <a:t>Making distance and density calculations comparable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364151"/>
                </a:solidFill>
                <a:latin typeface="Aptos"/>
              </a:defRPr>
            </a:pPr>
            <a:r>
              <a:t>• Six features were used: Close, Price Change, Price Range, Pct Change, Volatility and Volume.</a:t>
            </a:r>
          </a:p>
          <a:p>
            <a:pPr>
              <a:spcAft>
                <a:spcPts val="1100"/>
              </a:spcAft>
              <a:defRPr sz="1600">
                <a:solidFill>
                  <a:srgbClr val="364151"/>
                </a:solidFill>
                <a:latin typeface="Aptos"/>
              </a:defRPr>
            </a:pPr>
            <a:r>
              <a:t>• StandardScaler converts each feature to approximately mean 0 and standard deviation 1.</a:t>
            </a:r>
          </a:p>
          <a:p>
            <a:pPr>
              <a:spcAft>
                <a:spcPts val="1100"/>
              </a:spcAft>
              <a:defRPr sz="1600">
                <a:solidFill>
                  <a:srgbClr val="364151"/>
                </a:solidFill>
                <a:latin typeface="Aptos"/>
              </a:defRPr>
            </a:pPr>
            <a:r>
              <a:t>• Without scaling, high-magnitude variables such as Close or Volume could dominate distance calculations.</a:t>
            </a:r>
          </a:p>
          <a:p>
            <a:pPr>
              <a:spcAft>
                <a:spcPts val="1100"/>
              </a:spcAft>
              <a:defRPr sz="1600">
                <a:solidFill>
                  <a:srgbClr val="364151"/>
                </a:solidFill>
                <a:latin typeface="Aptos"/>
              </a:defRPr>
            </a:pPr>
            <a:r>
              <a:t>• The scaled matrix is the input for all three clustering methods.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828800"/>
            <a:ext cx="3200400" cy="2103120"/>
          </a:xfrm>
          <a:prstGeom prst="roundRect">
            <a:avLst/>
          </a:prstGeom>
          <a:solidFill>
            <a:srgbClr val="12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700">
                <a:solidFill>
                  <a:srgbClr val="FFFFFF"/>
                </a:solidFill>
                <a:latin typeface="Aptos"/>
              </a:defRPr>
            </a:pPr>
            <a:r>
              <a:t>StandardScaler</a:t>
            </a:r>
          </a:p>
          <a:p>
            <a:pPr algn="ctr">
              <a:defRPr sz="2400">
                <a:solidFill>
                  <a:srgbClr val="C49743"/>
                </a:solidFill>
                <a:latin typeface="Aptos Display"/>
              </a:defRPr>
            </a:pPr>
            <a:r>
              <a:t>z = (x − μ) / 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9224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  <a:latin typeface="Aptos"/>
              </a:defRPr>
            </a:pPr>
            <a:r>
              <a:t>Tesla Stock Market Performance Analysis   •   Prince Kumar Singh                            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8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21B2B"/>
                </a:solidFill>
                <a:latin typeface="Aptos Display"/>
              </a:defRPr>
            </a:pPr>
            <a:r>
              <a:t>K-Means: Choosing 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ptos"/>
              </a:defRPr>
            </a:pPr>
            <a:r>
              <a:t>Silhouette Score provides a data-driven cluster-count check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6766560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18120" y="1508760"/>
            <a:ext cx="3017520" cy="1051560"/>
          </a:xfrm>
          <a:prstGeom prst="roundRect">
            <a:avLst/>
          </a:prstGeom>
          <a:solidFill>
            <a:srgbClr val="F3F6F9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91440"/>
          <a:lstStyle/>
          <a:p>
            <a:pPr algn="ctr">
              <a:defRPr b="1" sz="2300">
                <a:solidFill>
                  <a:srgbClr val="C49743"/>
                </a:solidFill>
                <a:latin typeface="Aptos Display"/>
              </a:defRPr>
            </a:pPr>
            <a:r>
              <a:t>2</a:t>
            </a:r>
          </a:p>
          <a:p>
            <a:pPr>
              <a:defRPr sz="900">
                <a:solidFill>
                  <a:srgbClr val="6B7280"/>
                </a:solidFill>
                <a:latin typeface="Aptos"/>
              </a:defRPr>
            </a:pPr>
            <a:r>
              <a:t>Selected 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788920"/>
            <a:ext cx="3017520" cy="1051560"/>
          </a:xfrm>
          <a:prstGeom prst="roundRect">
            <a:avLst/>
          </a:prstGeom>
          <a:solidFill>
            <a:srgbClr val="F3F6F9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91440"/>
          <a:lstStyle/>
          <a:p>
            <a:pPr algn="ctr">
              <a:defRPr b="1" sz="2300">
                <a:solidFill>
                  <a:srgbClr val="188B8D"/>
                </a:solidFill>
                <a:latin typeface="Aptos Display"/>
              </a:defRPr>
            </a:pPr>
            <a:r>
              <a:t>0.501</a:t>
            </a:r>
          </a:p>
          <a:p>
            <a:pPr>
              <a:defRPr sz="900">
                <a:solidFill>
                  <a:srgbClr val="6B7280"/>
                </a:solidFill>
                <a:latin typeface="Aptos"/>
              </a:defRPr>
            </a:pPr>
            <a:r>
              <a:t>Silhouette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42976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300">
                <a:solidFill>
                  <a:srgbClr val="364151"/>
                </a:solidFill>
                <a:latin typeface="Aptos"/>
              </a:defRPr>
            </a:pPr>
            <a:r>
              <a:t>• K=2 through K=8 were tested.</a:t>
            </a:r>
          </a:p>
          <a:p>
            <a:pPr>
              <a:spcAft>
                <a:spcPts val="1100"/>
              </a:spcAft>
              <a:defRPr sz="1300">
                <a:solidFill>
                  <a:srgbClr val="364151"/>
                </a:solidFill>
                <a:latin typeface="Aptos"/>
              </a:defRPr>
            </a:pPr>
            <a:r>
              <a:t>• K=2 produced the highest Silhouette Score on the selected feature set.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9224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  <a:latin typeface="Aptos"/>
              </a:defRPr>
            </a:pPr>
            <a:r>
              <a:t>Tesla Stock Market Performance Analysis   •   Prince Kumar Singh                                 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8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21B2B"/>
                </a:solidFill>
                <a:latin typeface="Aptos Display"/>
              </a:defRPr>
            </a:pPr>
            <a:r>
              <a:t>K-Means Cluster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ptos"/>
              </a:defRPr>
            </a:pPr>
            <a:r>
              <a:t>Clusters mapped back to time reveal historical segments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7452360" cy="4617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75320" y="1645920"/>
            <a:ext cx="28803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400">
                <a:solidFill>
                  <a:srgbClr val="364151"/>
                </a:solidFill>
                <a:latin typeface="Aptos"/>
              </a:defRPr>
            </a:pPr>
            <a:r>
              <a:t>• Each observation is assigned to the nearest centroid.</a:t>
            </a:r>
          </a:p>
          <a:p>
            <a:pPr>
              <a:spcAft>
                <a:spcPts val="1100"/>
              </a:spcAft>
              <a:defRPr sz="1400">
                <a:solidFill>
                  <a:srgbClr val="364151"/>
                </a:solidFill>
                <a:latin typeface="Aptos"/>
              </a:defRPr>
            </a:pPr>
            <a:r>
              <a:t>• The segments differ in their combined standardized profiles—not only in Close price.</a:t>
            </a:r>
          </a:p>
          <a:p>
            <a:pPr>
              <a:spcAft>
                <a:spcPts val="1100"/>
              </a:spcAft>
              <a:defRPr sz="1400">
                <a:solidFill>
                  <a:srgbClr val="364151"/>
                </a:solidFill>
                <a:latin typeface="Aptos"/>
              </a:defRPr>
            </a:pPr>
            <a:r>
              <a:t>• Cluster-wise means of Close, movement, range, volatility and volume provide the main interpretation.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9224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  <a:latin typeface="Aptos"/>
              </a:defRPr>
            </a:pPr>
            <a:r>
              <a:t>Tesla Stock Market Performance Analysis   •   Prince Kumar Singh                                 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8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21B2B"/>
                </a:solidFill>
                <a:latin typeface="Aptos Display"/>
              </a:defRPr>
            </a:pPr>
            <a:r>
              <a:t>Gaussian Mixture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ptos"/>
              </a:defRPr>
            </a:pPr>
            <a:r>
              <a:t>Soft clustering for observations near regime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6583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364151"/>
                </a:solidFill>
                <a:latin typeface="Aptos"/>
              </a:defRPr>
            </a:pPr>
            <a:r>
              <a:t>• GMM models the feature space as a mixture of Gaussian distributions.</a:t>
            </a:r>
          </a:p>
          <a:p>
            <a:pPr>
              <a:spcAft>
                <a:spcPts val="1100"/>
              </a:spcAft>
              <a:defRPr sz="1600">
                <a:solidFill>
                  <a:srgbClr val="364151"/>
                </a:solidFill>
                <a:latin typeface="Aptos"/>
              </a:defRPr>
            </a:pPr>
            <a:r>
              <a:t>• Unlike K-Means, GMM can express membership probabilities for each observation.</a:t>
            </a:r>
          </a:p>
          <a:p>
            <a:pPr>
              <a:spcAft>
                <a:spcPts val="1100"/>
              </a:spcAft>
              <a:defRPr sz="1600">
                <a:solidFill>
                  <a:srgbClr val="364151"/>
                </a:solidFill>
                <a:latin typeface="Aptos"/>
              </a:defRPr>
            </a:pPr>
            <a:r>
              <a:t>• This provides a different perspective when boundaries between market regimes are not perfectly sharp.</a:t>
            </a:r>
          </a:p>
          <a:p>
            <a:pPr>
              <a:spcAft>
                <a:spcPts val="1100"/>
              </a:spcAft>
              <a:defRPr sz="1600">
                <a:solidFill>
                  <a:srgbClr val="364151"/>
                </a:solidFill>
                <a:latin typeface="Aptos"/>
              </a:defRPr>
            </a:pPr>
            <a:r>
              <a:t>• Using 2 components, the GMM Silhouette Score was 0.465.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691640"/>
            <a:ext cx="3063240" cy="1051560"/>
          </a:xfrm>
          <a:prstGeom prst="roundRect">
            <a:avLst/>
          </a:prstGeom>
          <a:solidFill>
            <a:srgbClr val="F3F6F9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91440"/>
          <a:lstStyle/>
          <a:p>
            <a:pPr algn="ctr">
              <a:defRPr b="1" sz="2300">
                <a:solidFill>
                  <a:srgbClr val="C49743"/>
                </a:solidFill>
                <a:latin typeface="Aptos Display"/>
              </a:defRPr>
            </a:pPr>
            <a:r>
              <a:t>2</a:t>
            </a:r>
          </a:p>
          <a:p>
            <a:pPr>
              <a:defRPr sz="900">
                <a:solidFill>
                  <a:srgbClr val="6B7280"/>
                </a:solidFill>
                <a:latin typeface="Aptos"/>
              </a:defRPr>
            </a:pPr>
            <a:r>
              <a:t>Components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3063240"/>
            <a:ext cx="3063240" cy="1051560"/>
          </a:xfrm>
          <a:prstGeom prst="roundRect">
            <a:avLst/>
          </a:prstGeom>
          <a:solidFill>
            <a:srgbClr val="F3F6F9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91440"/>
          <a:lstStyle/>
          <a:p>
            <a:pPr algn="ctr">
              <a:defRPr b="1" sz="2300">
                <a:solidFill>
                  <a:srgbClr val="188B8D"/>
                </a:solidFill>
                <a:latin typeface="Aptos Display"/>
              </a:defRPr>
            </a:pPr>
            <a:r>
              <a:t>0.465</a:t>
            </a:r>
          </a:p>
          <a:p>
            <a:pPr>
              <a:defRPr sz="900">
                <a:solidFill>
                  <a:srgbClr val="6B7280"/>
                </a:solidFill>
                <a:latin typeface="Aptos"/>
              </a:defRPr>
            </a:pPr>
            <a:r>
              <a:t>Silhouette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9224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  <a:latin typeface="Aptos"/>
              </a:defRPr>
            </a:pPr>
            <a:r>
              <a:t>Tesla Stock Market Performance Analysis   •   Prince Kumar Singh                                  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8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21B2B"/>
                </a:solidFill>
                <a:latin typeface="Aptos Display"/>
              </a:defRPr>
            </a:pPr>
            <a:r>
              <a:t>DBSCAN: Density &amp; Outliers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ptos"/>
              </a:defRPr>
            </a:pPr>
            <a:r>
              <a:t>A density-based view that does not require 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2834640" cy="1051560"/>
          </a:xfrm>
          <a:prstGeom prst="roundRect">
            <a:avLst/>
          </a:prstGeom>
          <a:solidFill>
            <a:srgbClr val="F3F6F9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91440"/>
          <a:lstStyle/>
          <a:p>
            <a:pPr algn="ctr">
              <a:defRPr b="1" sz="2300">
                <a:solidFill>
                  <a:srgbClr val="C49743"/>
                </a:solidFill>
                <a:latin typeface="Aptos Display"/>
              </a:defRPr>
            </a:pPr>
            <a:r>
              <a:t>1.5</a:t>
            </a:r>
          </a:p>
          <a:p>
            <a:pPr>
              <a:defRPr sz="900">
                <a:solidFill>
                  <a:srgbClr val="6B7280"/>
                </a:solidFill>
                <a:latin typeface="Aptos"/>
              </a:defRPr>
            </a:pPr>
            <a:r>
              <a:t>eps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86200" y="1417320"/>
            <a:ext cx="2834640" cy="1051560"/>
          </a:xfrm>
          <a:prstGeom prst="roundRect">
            <a:avLst/>
          </a:prstGeom>
          <a:solidFill>
            <a:srgbClr val="F3F6F9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91440"/>
          <a:lstStyle/>
          <a:p>
            <a:pPr algn="ctr">
              <a:defRPr b="1" sz="2300">
                <a:solidFill>
                  <a:srgbClr val="C49743"/>
                </a:solidFill>
                <a:latin typeface="Aptos Display"/>
              </a:defRPr>
            </a:pPr>
            <a:r>
              <a:t>10</a:t>
            </a:r>
          </a:p>
          <a:p>
            <a:pPr>
              <a:defRPr sz="900">
                <a:solidFill>
                  <a:srgbClr val="6B7280"/>
                </a:solidFill>
                <a:latin typeface="Aptos"/>
              </a:defRPr>
            </a:pPr>
            <a:r>
              <a:t>min_samples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417320"/>
            <a:ext cx="2834640" cy="1051560"/>
          </a:xfrm>
          <a:prstGeom prst="roundRect">
            <a:avLst/>
          </a:prstGeom>
          <a:solidFill>
            <a:srgbClr val="F3F6F9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91440"/>
          <a:lstStyle/>
          <a:p>
            <a:pPr algn="ctr">
              <a:defRPr b="1" sz="2300">
                <a:solidFill>
                  <a:srgbClr val="B24646"/>
                </a:solidFill>
                <a:latin typeface="Aptos Display"/>
              </a:defRPr>
            </a:pPr>
            <a:r>
              <a:t>2.8%</a:t>
            </a:r>
          </a:p>
          <a:p>
            <a:pPr>
              <a:defRPr sz="900">
                <a:solidFill>
                  <a:srgbClr val="6B7280"/>
                </a:solidFill>
                <a:latin typeface="Aptos"/>
              </a:defRPr>
            </a:pPr>
            <a:r>
              <a:t>Noise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80360"/>
            <a:ext cx="10149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364151"/>
                </a:solidFill>
                <a:latin typeface="Aptos"/>
              </a:defRPr>
            </a:pPr>
            <a:r>
              <a:t>• DBSCAN identifies dense regions and labels low-density observations as noise (-1).</a:t>
            </a:r>
          </a:p>
          <a:p>
            <a:pPr>
              <a:spcAft>
                <a:spcPts val="1100"/>
              </a:spcAft>
              <a:defRPr sz="1600">
                <a:solidFill>
                  <a:srgbClr val="364151"/>
                </a:solidFill>
                <a:latin typeface="Aptos"/>
              </a:defRPr>
            </a:pPr>
            <a:r>
              <a:t>• 86 observations were labeled as noise under these parameter settings.</a:t>
            </a:r>
          </a:p>
          <a:p>
            <a:pPr>
              <a:spcAft>
                <a:spcPts val="1100"/>
              </a:spcAft>
              <a:defRPr sz="1600">
                <a:solidFill>
                  <a:srgbClr val="364151"/>
                </a:solidFill>
                <a:latin typeface="Aptos"/>
              </a:defRPr>
            </a:pPr>
            <a:r>
              <a:t>• Silhouette excluding noise = 0.576.</a:t>
            </a:r>
          </a:p>
          <a:p>
            <a:pPr>
              <a:spcAft>
                <a:spcPts val="1100"/>
              </a:spcAft>
              <a:defRPr sz="1600">
                <a:solidFill>
                  <a:srgbClr val="364151"/>
                </a:solidFill>
                <a:latin typeface="Aptos"/>
              </a:defRPr>
            </a:pPr>
            <a:r>
              <a:t>• Noise is a density-based designation; it does not automatically mean the observation is erroneous.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9224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  <a:latin typeface="Aptos"/>
              </a:defRPr>
            </a:pPr>
            <a:r>
              <a:t>Tesla Stock Market Performance Analysis   •   Prince Kumar Singh                                  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8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21B2B"/>
                </a:solidFill>
                <a:latin typeface="Aptos Display"/>
              </a:defRPr>
            </a:pPr>
            <a:r>
              <a:t>Model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ptos"/>
              </a:defRPr>
            </a:pPr>
            <a:r>
              <a:t>Three algorithms, three different assumptions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6126480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86600" y="155448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364151"/>
                </a:solidFill>
                <a:latin typeface="Aptos"/>
              </a:defRPr>
            </a:pPr>
            <a:r>
              <a:t>• K-Means: centroid-based hard assignment.</a:t>
            </a:r>
          </a:p>
          <a:p>
            <a:pPr>
              <a:spcAft>
                <a:spcPts val="1100"/>
              </a:spcAft>
              <a:defRPr sz="1500">
                <a:solidFill>
                  <a:srgbClr val="364151"/>
                </a:solidFill>
                <a:latin typeface="Aptos"/>
              </a:defRPr>
            </a:pPr>
            <a:r>
              <a:t>• GMM: probabilistic / soft assignment.</a:t>
            </a:r>
          </a:p>
          <a:p>
            <a:pPr>
              <a:spcAft>
                <a:spcPts val="1100"/>
              </a:spcAft>
              <a:defRPr sz="1500">
                <a:solidFill>
                  <a:srgbClr val="364151"/>
                </a:solidFill>
                <a:latin typeface="Aptos"/>
              </a:defRPr>
            </a:pPr>
            <a:r>
              <a:t>• DBSCAN: density-based clusters + explicit noise.</a:t>
            </a:r>
          </a:p>
          <a:p>
            <a:pPr>
              <a:spcAft>
                <a:spcPts val="1100"/>
              </a:spcAft>
              <a:defRPr sz="1500">
                <a:solidFill>
                  <a:srgbClr val="364151"/>
                </a:solidFill>
                <a:latin typeface="Aptos"/>
              </a:defRPr>
            </a:pPr>
            <a:r>
              <a:t>• Silhouette Score is used for separation; DBSCAN score excludes noise observations.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9224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  <a:latin typeface="Aptos"/>
              </a:defRPr>
            </a:pPr>
            <a:r>
              <a:t>Tesla Stock Market Performance Analysis   •   Prince Kumar Singh                                  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8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121B2B"/>
                </a:solidFill>
                <a:latin typeface="Aptos Display"/>
              </a:defRPr>
            </a:pPr>
            <a:r>
              <a:t>Statistical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ptos"/>
              </a:defRPr>
            </a:pPr>
            <a:r>
              <a:t>Testing whether K-Means clusters differ in Close price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3017520" cy="1051560"/>
          </a:xfrm>
          <a:prstGeom prst="roundRect">
            <a:avLst/>
          </a:prstGeom>
          <a:solidFill>
            <a:srgbClr val="F3F6F9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91440"/>
          <a:lstStyle/>
          <a:p>
            <a:pPr algn="ctr">
              <a:defRPr b="1" sz="2300">
                <a:solidFill>
                  <a:srgbClr val="C49743"/>
                </a:solidFill>
                <a:latin typeface="Aptos Display"/>
              </a:defRPr>
            </a:pPr>
            <a:r>
              <a:t>12947.66</a:t>
            </a:r>
          </a:p>
          <a:p>
            <a:pPr>
              <a:defRPr sz="900">
                <a:solidFill>
                  <a:srgbClr val="6B7280"/>
                </a:solidFill>
                <a:latin typeface="Aptos"/>
              </a:defRPr>
            </a:pPr>
            <a:r>
              <a:t>ANOVA F-statistic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69080" y="1417320"/>
            <a:ext cx="3017520" cy="1051560"/>
          </a:xfrm>
          <a:prstGeom prst="roundRect">
            <a:avLst/>
          </a:prstGeom>
          <a:solidFill>
            <a:srgbClr val="F3F6F9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91440"/>
          <a:lstStyle/>
          <a:p>
            <a:pPr algn="ctr">
              <a:defRPr b="1" sz="2300">
                <a:solidFill>
                  <a:srgbClr val="188B8D"/>
                </a:solidFill>
                <a:latin typeface="Aptos Display"/>
              </a:defRPr>
            </a:pPr>
            <a:r>
              <a:t>&lt; 0.001</a:t>
            </a:r>
          </a:p>
          <a:p>
            <a:pPr>
              <a:defRPr sz="900">
                <a:solidFill>
                  <a:srgbClr val="6B7280"/>
                </a:solidFill>
                <a:latin typeface="Aptos"/>
              </a:defRPr>
            </a:pPr>
            <a:r>
              <a:t>p-value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417320"/>
            <a:ext cx="3017520" cy="1051560"/>
          </a:xfrm>
          <a:prstGeom prst="roundRect">
            <a:avLst/>
          </a:prstGeom>
          <a:solidFill>
            <a:srgbClr val="F3F6F9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91440"/>
          <a:lstStyle/>
          <a:p>
            <a:pPr algn="ctr">
              <a:defRPr b="1" sz="2300">
                <a:solidFill>
                  <a:srgbClr val="188B8D"/>
                </a:solidFill>
                <a:latin typeface="Aptos Display"/>
              </a:defRPr>
            </a:pPr>
            <a:r>
              <a:t>α = 0.05</a:t>
            </a:r>
          </a:p>
          <a:p>
            <a:pPr>
              <a:defRPr sz="900">
                <a:solidFill>
                  <a:srgbClr val="6B7280"/>
                </a:solidFill>
                <a:latin typeface="Aptos"/>
              </a:defRPr>
            </a:pPr>
            <a:r>
              <a:t>Significance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71800"/>
            <a:ext cx="10149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364151"/>
                </a:solidFill>
                <a:latin typeface="Aptos"/>
              </a:defRPr>
            </a:pPr>
            <a:r>
              <a:t>• H0: mean Close price is equal across K-Means clusters.</a:t>
            </a:r>
          </a:p>
          <a:p>
            <a:pPr>
              <a:spcAft>
                <a:spcPts val="1100"/>
              </a:spcAft>
              <a:defRPr sz="1700">
                <a:solidFill>
                  <a:srgbClr val="364151"/>
                </a:solidFill>
                <a:latin typeface="Aptos"/>
              </a:defRPr>
            </a:pPr>
            <a:r>
              <a:t>• H1: at least one cluster has a different mean Close price.</a:t>
            </a:r>
          </a:p>
          <a:p>
            <a:pPr>
              <a:spcAft>
                <a:spcPts val="1100"/>
              </a:spcAft>
              <a:defRPr sz="1700">
                <a:solidFill>
                  <a:srgbClr val="364151"/>
                </a:solidFill>
                <a:latin typeface="Aptos"/>
              </a:defRPr>
            </a:pPr>
            <a:r>
              <a:t>• The very small p-value provides evidence against H0 for this dataset.</a:t>
            </a:r>
          </a:p>
          <a:p>
            <a:pPr>
              <a:spcAft>
                <a:spcPts val="1100"/>
              </a:spcAft>
              <a:defRPr sz="1700">
                <a:solidFill>
                  <a:srgbClr val="364151"/>
                </a:solidFill>
                <a:latin typeface="Aptos"/>
              </a:defRPr>
            </a:pPr>
            <a:r>
              <a:t>• ANOVA identifies a difference in group means; it does not establish causality.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9224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  <a:latin typeface="Aptos"/>
              </a:defRPr>
            </a:pPr>
            <a:r>
              <a:t>Tesla Stock Market Performance Analysis   •   Prince Kumar Singh                                   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8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FFFFFF"/>
                </a:solidFill>
                <a:latin typeface="Aptos Display"/>
              </a:defRPr>
            </a:pPr>
            <a:r>
              <a:t>Key Findings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EC8D4"/>
                </a:solidFill>
                <a:latin typeface="Aptos"/>
              </a:defRPr>
            </a:pPr>
            <a:r>
              <a:t>A concise interpretation of the completed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10241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Tesla's price and volume scales change substantially over the historical sample, making feature scaling important.</a:t>
            </a:r>
          </a:p>
          <a:p>
            <a:pPr>
              <a:spcAft>
                <a:spcPts val="11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Engineered movement and volatility features add short-term context beyond raw OHLCV values.</a:t>
            </a:r>
          </a:p>
          <a:p>
            <a:pPr>
              <a:spcAft>
                <a:spcPts val="11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K-Means, GMM and DBSCAN produce complementary historical segmentation views.</a:t>
            </a:r>
          </a:p>
          <a:p>
            <a:pPr>
              <a:spcAft>
                <a:spcPts val="11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The clustering output should be treated as descriptive market regimes, not as guaranteed future trading signals.</a:t>
            </a:r>
          </a:p>
          <a:p>
            <a:pPr>
              <a:spcAft>
                <a:spcPts val="11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Next: test cluster stability across time windows and add market/technical features while preventing look-ahead leakage.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7150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49743"/>
                </a:solidFill>
                <a:latin typeface="Aptos"/>
              </a:defRPr>
            </a:pPr>
            <a:r>
              <a:t>Thank You  |  Prince Kumar Singh  |  Data Analyst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9224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B7280"/>
                </a:solidFill>
                <a:latin typeface="Aptos"/>
              </a:defRPr>
            </a:pPr>
            <a:r>
              <a:t>Tesla Stock Market Performance Analysis   •   Prince Kumar Singh                                     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